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slide:02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slide:06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slide:13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371600"/>
            <a:ext cx="5029200" cy="5029200"/>
          </a:xfrm>
          <a:prstGeom prst="ellipse">
            <a:avLst/>
          </a:prstGeom>
          <a:solidFill>
            <a:srgbClr val="7BAFD4">
              <a:alpha val="12000"/>
            </a:srgbClr>
          </a:solidFill>
          <a:ln w="6350">
            <a:solidFill>
              <a:srgbClr val="7BAFD4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2926080" cy="2926080"/>
          </a:xfrm>
          <a:prstGeom prst="ellipse">
            <a:avLst/>
          </a:prstGeom>
          <a:solidFill>
            <a:srgbClr val="E8C07A">
              <a:alpha val="8000"/>
            </a:srgbClr>
          </a:solidFill>
          <a:ln w="6350">
            <a:solidFill>
              <a:srgbClr val="E8C07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13232"/>
            <a:ext cx="1828800" cy="274320"/>
          </a:xfrm>
          <a:prstGeom prst="roundRect">
            <a:avLst/>
          </a:prstGeom>
          <a:solidFill>
            <a:srgbClr val="2D4A6B"/>
          </a:solidFill>
          <a:ln w="6350">
            <a:solidFill>
              <a:srgbClr val="7BAFD4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C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医疗 AI · 大创项目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8912" y="120700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AI多模态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38912" y="19202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C0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康复助手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38912" y="28346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体态分析 + 语音结构化 + 报告/治疗计划闭环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316382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团队/指导老师/日期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 / 指导老师 / 日期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痛点与目标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612900000" dist="322580000" dir="486000000000">
              <a:srgbClr val="000000">
                <a:alpha val="10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841248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81564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评估效率低、一致性差、报告撰写耗时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三视角采集、自动化分析与报告、治疗计划生成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提升效率与临床可用性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2/13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方案总览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612900000" dist="322580000" dir="486000000000">
              <a:srgbClr val="000000">
                <a:alpha val="10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38587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采集 → 分析 → 报告 → 治疗计划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视觉（体态） + 语音（结构化）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LLM流式 + 基础报告回退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612900000" dist="322580000" dir="486000000000">
              <a:srgbClr val="000000">
                <a:alpha val="10000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4114800" cy="64008"/>
          </a:xfrm>
          <a:prstGeom prst="rect">
            <a:avLst/>
          </a:prstGeom>
          <a:solidFill>
            <a:srgbClr val="3D5F82"/>
          </a:solidFill>
          <a:ln w="12700">
            <a:solidFill>
              <a:srgbClr val="3D5F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380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接诊中心（真实产品界面）→ 后续架构图的模块落点</a:t>
            </a:r>
            <a:endParaRPr lang="en-US" sz="1200" dirty="0"/>
          </a:p>
        </p:txBody>
      </p:sp>
      <p:pic>
        <p:nvPicPr>
          <p:cNvPr id="11" name="AUTO_FIG_BLUR_03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rcRect l="0" r="0" t="0" b="0"/>
          <a:stretch/>
        </p:blipFill>
        <p:spPr>
          <a:xfrm>
            <a:off x="4791456" y="1746504"/>
            <a:ext cx="3858768" cy="266090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791456" y="1746504"/>
            <a:ext cx="3858768" cy="2660904"/>
          </a:xfrm>
          <a:prstGeom prst="roundRect">
            <a:avLst/>
          </a:prstGeom>
          <a:solidFill>
            <a:srgbClr val="F0F4F8">
              <a:alpha val="82000"/>
            </a:srgbClr>
          </a:solidFill>
          <a:ln w="6350">
            <a:solidFill>
              <a:srgbClr val="DDE8F2"/>
            </a:solidFill>
            <a:prstDash val="solid"/>
          </a:ln>
        </p:spPr>
      </p:sp>
      <p:pic>
        <p:nvPicPr>
          <p:cNvPr id="13" name="AUTO_FIG_MAIN_03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64608" y="1819656"/>
            <a:ext cx="3712464" cy="2514600"/>
          </a:xfrm>
          <a:prstGeom prst="rect">
            <a:avLst/>
          </a:prstGeom>
          <a:effectLst>
            <a:outerShdw sx="100000" sy="100000" kx="0" ky="0" algn="bl" rotWithShape="0" blurRad="1612900000" dist="322580000" dir="486000000000">
              <a:srgbClr val="000000">
                <a:alpha val="1000000000"/>
              </a:srgbClr>
            </a:outerShdw>
          </a:effectLst>
        </p:spPr>
      </p:pic>
      <p:sp>
        <p:nvSpPr>
          <p:cNvPr id="14" name="Text 10"/>
          <p:cNvSpPr/>
          <p:nvPr/>
        </p:nvSpPr>
        <p:spPr>
          <a:xfrm>
            <a:off x="4791456" y="453542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接诊中心（真实产品界面）→ 后续架构图的模块落点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系统架构图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612900000" dist="322580000" dir="486000000000">
              <a:srgbClr val="000000">
                <a:alpha val="10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38587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前端：React+Vite+TypeScript，Zustand 状态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后端：FastAPI+Uvicorn，WS：/ws/analyze（端口 8002）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数据流：ANALYSIS_RESULT / POSTURE_REPORT / DEEP_REPORT_STREAM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612900000" dist="322580000" dir="486000000000">
              <a:srgbClr val="000000">
                <a:alpha val="10000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4114800" cy="64008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380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占位符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91456" y="1746504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892808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1：架构图（模块边界 + 数据流/WS消息）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采集流程（三视角）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612900000" dist="322580000" dir="486000000000">
              <a:srgbClr val="000000">
                <a:alpha val="10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38587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 / 侧 / 后视角时序采样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骨架叠加与置信度阈值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权限与设备处理策略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612900000" dist="322580000" dir="486000000000">
              <a:srgbClr val="000000">
                <a:alpha val="10000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4114800" cy="64008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380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占位符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91456" y="1746504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892808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1：三视角采集截图（骨架叠加）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91456" y="2862072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3008376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2：采集流程示意图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5/13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指标与可解释性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612900000" dist="322580000" dir="486000000000">
              <a:srgbClr val="000000">
                <a:alpha val="10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38587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头前引、肩圆、头倾、肩/髋不平、正中线偏移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阈值等级：mild / moderate / severe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可视化示例与解释说明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612900000" dist="322580000" dir="486000000000">
              <a:srgbClr val="000000">
                <a:alpha val="10000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4114800" cy="64008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380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占位符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91456" y="1746504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892808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1：指标面板截图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91456" y="2862072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3008376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2：时序曲线/对比图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6/13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深度报告（LLM流式）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612900000" dist="322580000" dir="486000000000">
              <a:srgbClr val="000000">
                <a:alpha val="10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38587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增量输出与最终 Markdown 报告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成功与失败回退（基础诊断）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报告片段规范与质量控制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612900000" dist="322580000" dir="486000000000">
              <a:srgbClr val="000000">
                <a:alpha val="10000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4114800" cy="64008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380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占位符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91456" y="1746504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892808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1：流式输出片段截图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91456" y="2862072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3008376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2：最终报告片段截图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7/13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报告中心与导出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612900000" dist="322580000" dir="486000000000">
              <a:srgbClr val="000000">
                <a:alpha val="10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38587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会话汇总、报告查看与导出 PDF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案例复盘与复评入口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报告中心界面素材占位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612900000" dist="322580000" dir="486000000000">
              <a:srgbClr val="000000">
                <a:alpha val="10000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4114800" cy="64008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380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占位符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91456" y="1746504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892808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1：报告中心列表/详情截图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91456" y="2862072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3008376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2：导出PDF示例页截图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8/13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治疗计划生成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612900000" dist="322580000" dir="486000000000">
              <a:srgbClr val="000000">
                <a:alpha val="10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38587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结构化输出与版本管理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版本对比视图（差异高亮）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复评闭环与随访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612900000" dist="322580000" dir="486000000000">
              <a:srgbClr val="000000">
                <a:alpha val="10000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4114800" cy="64008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380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占位符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91456" y="1746504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892808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1：计划版本列表截图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91456" y="2862072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3008376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2：版本对比视图截图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9/13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语音 MedVoice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612900000" dist="322580000" dir="486000000000">
              <a:srgbClr val="000000">
                <a:alpha val="10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38587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实时转写与结构化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与报告中心联动（/medvoice）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问诊记录 → 报告补充 → 计划建议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612900000" dist="322580000" dir="486000000000">
              <a:srgbClr val="000000">
                <a:alpha val="10000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4114800" cy="64008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380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占位符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91456" y="1746504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892808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1：语音录入/转写截图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91456" y="2862072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3008376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2：结构化结果/联动示意图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10/13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工程与测试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612900000" dist="322580000" dir="486000000000">
              <a:srgbClr val="000000">
                <a:alpha val="10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841248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81564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脚本：dev / build / check / test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单元与集成测试覆盖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运行入口与部署思路（本地 / 容器）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11/13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结果与展望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612900000" dist="322580000" dir="486000000000">
              <a:srgbClr val="000000">
                <a:alpha val="10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38587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效率对比（人工 vs 系统）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一致性与可解释性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医院试点与开源路线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11480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612900000" dist="322580000" dir="486000000000">
              <a:srgbClr val="000000">
                <a:alpha val="10000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4114800" cy="64008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380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占位符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91456" y="1746504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892808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1：效率对比表/柱状图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91456" y="2862072"/>
            <a:ext cx="3858768" cy="987552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3008376"/>
            <a:ext cx="3602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2：落地路线图/里程碑图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12/13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07A"/>
          </a:solidFill>
          <a:ln w="12700">
            <a:solidFill>
              <a:srgbClr val="E8C0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致谢与问答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0" y="292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3703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sx="100000" sy="100000" kx="0" ky="0" algn="bl" rotWithShape="0" blurRad="1612900000" dist="322580000" dir="486000000000">
              <a:srgbClr val="000000">
                <a:alpha val="10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8412480" cy="6400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26464"/>
            <a:ext cx="81564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团队成员与指导老师</a:t>
            </a:r>
            <a:endParaRPr lang="en-US" sz="11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1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合作单位 / 数据来源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AI多模态康复助手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863840" y="4956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Rehab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AI多模态康复助手</dc:title>
  <dc:subject>AI多模态康复助手</dc:subject>
  <dc:creator>Rehab</dc:creator>
  <cp:lastModifiedBy>Rehab</cp:lastModifiedBy>
  <cp:revision>1</cp:revision>
  <dcterms:created xsi:type="dcterms:W3CDTF">2026-03-13T13:45:45Z</dcterms:created>
  <dcterms:modified xsi:type="dcterms:W3CDTF">2026-03-13T13:45:45Z</dcterms:modified>
</cp:coreProperties>
</file>